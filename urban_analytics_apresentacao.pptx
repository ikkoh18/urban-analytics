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32" autoAdjust="0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9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6453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 / BOA TARDE.
Meu nome é Roberto Ikkoh e vou apresentar o Urban Analytics System — um sistema de inteligência urbana orientado a dados, focado em Los Angeles.
O projeto nasce de uma questão prática: como uma pessoa que não conhece uma grande cidade pode tomar decisões mais seguras sobre onde ir, em que horário e com quais precauções?
Para responder isso, integrei três fontes públicas de dados — mais de 900 mil registros de criminalidade do LAPD, dados horários de 45 mil sensores de tráfego do sistema PeMS da Caltrans, e registros meteorológicos da API Meteostat — em um único pipeline de análise.
Ao longo dessa apresentação vou mostrar o tema do projeto, a motivação, o problema tratado, o estado da arte, o plano de projeto com cronograma e os resultados esperados.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tema do projeto é análise urbana orientada a dados — e a motivação vem de uma lacuna real.
Temos hoje três fontes públicas riquíssimas sobre Los Angeles: o portal de dados abertos da prefeitura com mais de 900 mil registros de crime, o sistema PeMS da Caltrans com 45 mil sensores de tráfego em toda a Califórnia, e a API Meteostat com dados climáticos horários.
Só que ninguém integra essas três fontes de forma estruturada para gerar valor prático ao usuário comum.
O caso de uso principal que me motivou é simples: uma pessoa do Brasil viajando para Los Angeles. Ela não conhece a cidade, não sabe quais bairros evitar à noite, não sabe se o tráfego piora com a chuva, não sabe qual o melhor horário para se deslocar.
Esse projeto responde essas perguntas com dados reais — não com impressões subjetivas.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problema central do projeto é a fragmentação dos dados urbanos disponíveis publicamente.
Os dados existem — o problema é que eles vivem em formatos completamente diferentes, com granularidades distintas e sem nenhuma integração entre si.
Deixa eu mostrar os quatro desafios técnicos concretos que tivemos que resolver:
PRIMEIRO: Timestamps heterogêneos. O campo time_occ no dataset de crime é um inteiro no formato HHMM — o valor 1430 significa 14h30. Antes de qualquer coisa, precisamos formatar como string com zfill(4) e combinar com o campo de data para criar um timestamp válido.
SEGUNDO: Geocódigos inválidos. Uma parte dos registros de crime tem lat igual a zero — isso é uma falha no geocodificador do LAPD. Esses registros precisam ser removidos antes de qualquer análise espacial.
TERCEIRO: Granularidades distintas. Crime é registrado por ocorrência individual, tráfego é por estação sensorial por hora, e clima já vem em granularidade horária. Para fazer o merge, tudo precisa ser agregado para a mesma unidade de tempo — hora.
QUARTO: Dados faltantes no clima. Precipitação nula não significa que o dado está faltando — significa que não choveu. Por isso aplicamos forward-fill pós-merge, ao invés de descartar esses registros.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 contextualizar o projeto dentro do que já existe na literatura e no mercado.
Existem três grandes referências nessa área:
PRIMEIRO: Os preditores de crime desenvolvidos por departamentos de polícia americanos desde os anos 2010. Eles funcionam para identificar hotspots — mas focam exclusivamente em crime, sem cruzar com tráfego ou clima. E há críticas legítimas sobre reprodução de vieses estruturais.
SEGUNDO: O Urban Mobility Report do Texas A&amp;M Transportation Institute, que estabeleceu metodologias sólidas para quantificar congestionamento cruzando sensores de tráfego com dados climáticos. Referência em mobilidade — mas sem dimensão de segurança.
TERCEIRO: Plataformas de smart city de empresas como IBM e Cisco, que fazem integração multidimensional em nível corporativo. O problema: são proprietárias, caras e completamente fechadas.
O nosso diferencial está exatamente no que nenhuma dessas referências faz simultaneamente: integrar as três dimensões — crime, tráfego e clima — em um pipeline único, com fontes 100% públicas, arquitetura reproduzível e um entregável mobile acessível com predições.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plano de projeto está estruturado em torno de três elementos: a arquitetura do sistema, os perfis de usuários e o stack tecnológico.
A ARQUITETURA segue um pipeline de seis camadas: dados brutos, ingestão, processamento, integração, analytics e o app Flutter como camada de apresentação. Cada camada tem responsabilidade única e outputs documentados.
Os PERFIS DE USUÁRIOS foram mapeados em 13 perfis distintos — desde o viajante que não conhece a cidade, passando pelo analista urbano, gestor público, empresa de logística, seguradora, até plataformas de mobilidade. Cada perfil tem necessidades distintas sobre como os dados devem ser apresentados.
O STACK TECNOLÓGICO: Python com Pandas no pipeline, fontes públicas de dados, backend ainda em definição entre FastAPI e Firebase, banco de dados PostgreSQL ou Parquet dependendo do volume final, app em Flutter com padrão BLoC, e modelos de machine learning baseados em SARIMA, Prophet e XGBoost para as predições.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está estruturado em 7 milestones sequenciais, cada um dependendo do anterior.
M1 — CONCLUÍDO: estrutura do repositório e scripts de ingestão funcionais.
M2 — CONCLUÍDO: pipeline completo de tráfego, gerando o arquivo traffic_2025_core.csv.
M3 — CONCLUÍDO: limpeza dos dados de crime e clima, com tratamento do campo time_occ e remoção de geocódigos inválidos.
M4 — EM ANDAMENTO: integração dos três datasets em um único CSV com granularidade horária — o urban_dataset_2025.csv. Esse é o milestone crítico que desbloqueia tudo que vem depois.
M5 até M7 ainda estão pendentes: análise exploratória no notebook, desenvolvimento dos indicadores de risco e modelos preditivos, e finalmente o app Flutter com mapa, dashboard e sistema de recomendações.
O projeto está na metade do caminho, com a parte mais trabalhosa de engenharia de dados já resolvida.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sistema vai entregar seis resultados concretos, que juntos formam uma plataforma completa de inteligência urbana.
PRIMEIRO: o dataset integrado — urban_dataset_2025.csv — com timestamp, contagem de crimes, fluxo de tráfego, velocidade média, temperatura e precipitação, tudo em granularidade horária.
SEGUNDO: analytics e correlações — identificando o impacto da chuva no congestionamento, a relação entre crime e tráfego por horário, e heatmaps de padrão hora versus dia da semana.
TERCEIRO: score de risco urbano composto — combinando as três dimensões em um indicador por área com três níveis: baixo, moderado e elevado.
QUARTO: modelos preditivos — SARIMA ou Prophet para tráfego, XGBoost para risco de crime — capazes de fazer predições para as próximas 24 horas.
QUINTO: mapa interativo com quatro camadas controláveis pelo usuário — heatmap de crime, fluxo de tráfego, camada de clima e alertas de risco por horário.
SEXTO: o app Flutter completo, para Android e iOS, com dashboard analítico, mapa e sistema de recomendações apresentadas em linguagem simples — acessível para qualquer um dos 13 perfis de usuário mapeados.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fechar, o Urban Analytics System é uma plataforma de inteligência urbana completa: três fontes de dados públicos integradas em um pipeline de sete etapas, com entregável final em Flutter para Android e iOS.
O projeto já tem a base de engenharia de dados construída — os três datasets estão processados e a integração está em andamento.
As próximas etapas são a análise exploratória que vai revelar os padrões, os modelos preditivos e o app mobile que vai tornar tudo isso acessível para qualquer pessoa navegando em uma cidade desconhecida.
Estou à disposição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ANALYTICS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300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3200400" cy="36576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Urbana Orientada a Dados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Ikkoh  ·  Engenharia da </a:t>
            </a:r>
            <a:r>
              <a:rPr lang="en-US" sz="1100" dirty="0" err="1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Computação</a:t>
            </a:r>
            <a:r>
              <a:rPr lang="en-US" sz="11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15781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e Motivação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857281"/>
            <a:ext cx="1097280" cy="36576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910141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URBAN ANALYTICS?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1965960" cy="118872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900K+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crime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(LAPD 2020–presente)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33472" y="1188720"/>
            <a:ext cx="1965960" cy="118872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2633472" y="12618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33472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Sensores de tráfego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(PeMS Califórnia)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9744" y="1188720"/>
            <a:ext cx="1965960" cy="118872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09744" y="12618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809744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integradas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 único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86016" y="1188720"/>
            <a:ext cx="1965960" cy="118872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986016" y="126187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86016" y="1737360"/>
            <a:ext cx="19659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</a:t>
            </a: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 err="1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mapeados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4023360" cy="228600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4008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Real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30175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urbanos públicos existem e são ricos — mas são fragmentados. Crime, tráfego e clima vivem em fontes separadas, com formatos distintos e sem integração.
</a:t>
            </a: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cruza essas três dimensões para gerar recomendações práticas a quem navega em uma cidade desconhecida.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2560320"/>
            <a:ext cx="4023360" cy="228600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4632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Oportunidade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0175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pessoa do Brasil viajando para Los Angeles precisa saber:
</a:t>
            </a: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Quais áreas têm maior incidência de crimes?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Quais horários têm tráfego mais intenso?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Como a chuva afeta a mobilidade?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Quando evitar certas regiões?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Tratado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48056" y="804672"/>
            <a:ext cx="1097280" cy="36576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FRAGMENTAÇÃO DOS DADOS URBANOS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1554480" cy="100584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(LAPD)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1143000"/>
            <a:ext cx="1554480" cy="100584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286000" y="1143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(PeMS)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1143000"/>
            <a:ext cx="1554480" cy="100584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114800" y="11430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CA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(Meteostat)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60511" y="1645920"/>
            <a:ext cx="457200" cy="0"/>
          </a:xfrm>
          <a:prstGeom prst="line">
            <a:avLst/>
          </a:prstGeom>
          <a:noFill/>
          <a:ln w="19050">
            <a:solidFill>
              <a:srgbClr val="8FA8BF"/>
            </a:solidFill>
            <a:prstDash val="solid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675120" y="1143000"/>
            <a:ext cx="2286000" cy="100584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675120" y="11430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423160"/>
            <a:ext cx="4114800" cy="109728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57200" y="2423160"/>
            <a:ext cx="64008" cy="1097280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21792" y="2514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heterogêneos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280720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time_occ como inteiro HHMM no crime vs datetime no clima. Exige zfill(4) + pd.to_datetime para harmonizar.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423160"/>
            <a:ext cx="4114800" cy="109728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4846320" y="2423160"/>
            <a:ext cx="64008" cy="1097280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010912" y="251460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Geocódigos inválidos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10912" y="280720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de crime com lat == 0 indicam falha no geocodificador do LAPD. Precisam ser removidos antes da análise espacial.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4114800" cy="109728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64008" cy="1097280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21792" y="3749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Granularidades distintas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" y="404164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por ocorrência, tráfego por estação/hora, clima por hora. Tudo precisa ser agregado para granularidade horária comum.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3657600"/>
            <a:ext cx="4114800" cy="109728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4846320" y="3657600"/>
            <a:ext cx="64008" cy="1097280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5010912" y="37490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faltantes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10912" y="4041648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Precipitação nula não significa ausência de dados — significa ausência de chuva. Forward-fill no clima pós-merge.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36491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da Arte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097280" cy="36576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EXISTE E ONDE ESTAMOS DIFERENTES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5486400" cy="105156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64008" cy="1051560"/>
          </a:xfrm>
          <a:prstGeom prst="rect">
            <a:avLst/>
          </a:prstGeom>
          <a:solidFill>
            <a:srgbClr val="F44336"/>
          </a:solidFill>
          <a:ln w="12700">
            <a:solidFill>
              <a:srgbClr val="F4433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121615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Preditores de Crime (EUA, 2010s)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A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Identificam hotspots temporais e geográficos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17830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Foco isolado em crime. Críticas sobre viés algorítmico.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5486400" cy="105156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200" y="2331720"/>
            <a:ext cx="64008" cy="1051560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24048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Mobility Report – Texas A&amp;M TTI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6974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A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Metodologia para quantificar congestionamento combinando sensores e clima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Foco isolado em mobilidade. Não cruza com segurança.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5486400" cy="105156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57200" y="3520440"/>
            <a:ext cx="64008" cy="1051560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40080" y="3593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 Platforms (IBM, Cisco)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8862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AF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Integração multidimensional em nível empresarial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Proprietário, caro e não reproduzível academicamente.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1143000"/>
            <a:ext cx="2651760" cy="370332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6217920" y="1143000"/>
            <a:ext cx="64008" cy="3703320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355080" y="1234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55080" y="187452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das 3 dimensões em pipeline único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100% públicas e gratuitas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reproduzível e documentada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 mobile (Flutter) com predições</a:t>
            </a:r>
            <a:endParaRPr lang="en-US" sz="1100" dirty="0"/>
          </a:p>
          <a:p>
            <a:pPr>
              <a:spcAft>
                <a:spcPts val="600"/>
              </a:spcAft>
              <a:buSzPct val="100000"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48056" y="24732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Projeto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48056" y="804672"/>
            <a:ext cx="1097280" cy="36576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48056" y="86454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ARQUITETURA, PERFIS E TECNOLOGIAS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230306"/>
            <a:ext cx="1097280" cy="689934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230306"/>
            <a:ext cx="1097280" cy="689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70972" y="1535065"/>
            <a:ext cx="156754" cy="0"/>
          </a:xfrm>
          <a:prstGeom prst="line">
            <a:avLst/>
          </a:prstGeom>
          <a:noFill/>
          <a:ln w="12700">
            <a:solidFill>
              <a:srgbClr val="8FA8BF"/>
            </a:solidFill>
            <a:prstDash val="solid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920240" y="1230306"/>
            <a:ext cx="1097280" cy="689934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920240" y="1230306"/>
            <a:ext cx="1097280" cy="689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31507" y="1535065"/>
            <a:ext cx="156754" cy="0"/>
          </a:xfrm>
          <a:prstGeom prst="line">
            <a:avLst/>
          </a:prstGeom>
          <a:noFill/>
          <a:ln w="12700">
            <a:solidFill>
              <a:srgbClr val="8FA8BF"/>
            </a:solidFill>
            <a:prstDash val="solid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3383280" y="1230306"/>
            <a:ext cx="1097280" cy="689934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383280" y="1230306"/>
            <a:ext cx="1097280" cy="689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85063" y="1531620"/>
            <a:ext cx="156754" cy="0"/>
          </a:xfrm>
          <a:prstGeom prst="line">
            <a:avLst/>
          </a:prstGeom>
          <a:noFill/>
          <a:ln w="12700">
            <a:solidFill>
              <a:srgbClr val="8FA8BF"/>
            </a:solidFill>
            <a:prstDash val="solid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846320" y="1230306"/>
            <a:ext cx="1097280" cy="689934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846320" y="1230306"/>
            <a:ext cx="1097280" cy="689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319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48103" y="1538510"/>
            <a:ext cx="156754" cy="0"/>
          </a:xfrm>
          <a:prstGeom prst="line">
            <a:avLst/>
          </a:prstGeom>
          <a:noFill/>
          <a:ln w="12700">
            <a:solidFill>
              <a:srgbClr val="8FA8BF"/>
            </a:solidFill>
            <a:prstDash val="solid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6309360" y="1230306"/>
            <a:ext cx="1097280" cy="689934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309360" y="1230306"/>
            <a:ext cx="1097280" cy="689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525637" y="1544773"/>
            <a:ext cx="156754" cy="0"/>
          </a:xfrm>
          <a:prstGeom prst="line">
            <a:avLst/>
          </a:prstGeom>
          <a:noFill/>
          <a:ln w="12700">
            <a:solidFill>
              <a:srgbClr val="8FA8BF"/>
            </a:solidFill>
            <a:prstDash val="solid"/>
            <a:tailEnd type="none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7772400" y="1230306"/>
            <a:ext cx="1097280" cy="689934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7772400" y="1230306"/>
            <a:ext cx="1097280" cy="6899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B4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9B4D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2148839"/>
            <a:ext cx="4023360" cy="2698731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40080" y="2240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Usuários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5049" y="2604976"/>
            <a:ext cx="185886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🧳  Viajante / novo morador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Analista ou pesquisador urbano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   Gestor público / planejador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Empresa de logística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Seguradora / analista de risco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Plataforma de mobilidade urbana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endParaRPr lang="en-US" sz="1000" dirty="0">
              <a:solidFill>
                <a:srgbClr val="8FA8B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663440" y="2163045"/>
            <a:ext cx="4206240" cy="269873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 dirty="0"/>
          </a:p>
        </p:txBody>
      </p:sp>
      <p:sp>
        <p:nvSpPr>
          <p:cNvPr id="28" name="Text 26"/>
          <p:cNvSpPr/>
          <p:nvPr/>
        </p:nvSpPr>
        <p:spPr>
          <a:xfrm>
            <a:off x="4846320" y="22402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8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870448" y="26517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Jupyter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2990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870448" y="299008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Open Data · PeMS · Meteostat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3284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70448" y="332841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36667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70448" y="3666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4005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70448" y="40050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BLoC · flutter_map · fl_chart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4343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70448" y="4343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· Prophet · XGBoost</a:t>
            </a:r>
            <a:endParaRPr lang="en-US" sz="1000" dirty="0"/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29744F5E-92EA-C600-34C5-BB7AC4602E78}"/>
              </a:ext>
            </a:extLst>
          </p:cNvPr>
          <p:cNvSpPr/>
          <p:nvPr/>
        </p:nvSpPr>
        <p:spPr>
          <a:xfrm>
            <a:off x="2560320" y="2606040"/>
            <a:ext cx="185886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pt-BR" sz="1100" dirty="0">
                <a:solidFill>
                  <a:schemeClr val="bg1"/>
                </a:solidFill>
              </a:rPr>
              <a:t>🎓 Estudante de pós-graduação</a:t>
            </a:r>
          </a:p>
          <a:p>
            <a:pPr>
              <a:spcAft>
                <a:spcPts val="400"/>
              </a:spcAft>
            </a:pPr>
            <a:r>
              <a:rPr lang="pt-BR" sz="1100" dirty="0">
                <a:solidFill>
                  <a:schemeClr val="bg1"/>
                </a:solidFill>
              </a:rPr>
              <a:t>📰 Jornalista de dados </a:t>
            </a:r>
          </a:p>
          <a:p>
            <a:pPr>
              <a:spcAft>
                <a:spcPts val="400"/>
              </a:spcAft>
            </a:pPr>
            <a:r>
              <a:rPr lang="pt-BR" sz="1100" dirty="0">
                <a:solidFill>
                  <a:schemeClr val="bg1"/>
                </a:solidFill>
              </a:rPr>
              <a:t>✈️ Turista com viagem planejada </a:t>
            </a:r>
          </a:p>
          <a:p>
            <a:pPr>
              <a:spcAft>
                <a:spcPts val="400"/>
              </a:spcAft>
            </a:pPr>
            <a:r>
              <a:rPr lang="pt-BR" sz="1100" dirty="0">
                <a:solidFill>
                  <a:schemeClr val="bg1"/>
                </a:solidFill>
              </a:rPr>
              <a:t>🛡️ Segurança privada </a:t>
            </a:r>
          </a:p>
          <a:p>
            <a:pPr>
              <a:spcAft>
                <a:spcPts val="400"/>
              </a:spcAft>
            </a:pPr>
            <a:r>
              <a:rPr lang="pt-BR" sz="1100" dirty="0">
                <a:solidFill>
                  <a:schemeClr val="bg1"/>
                </a:solidFill>
              </a:rPr>
              <a:t>🏥 Pesquisador de saúde pública </a:t>
            </a:r>
          </a:p>
          <a:p>
            <a:pPr>
              <a:spcAft>
                <a:spcPts val="400"/>
              </a:spcAft>
            </a:pPr>
            <a:r>
              <a:rPr lang="pt-BR" sz="1100" dirty="0">
                <a:solidFill>
                  <a:schemeClr val="bg1"/>
                </a:solidFill>
              </a:rPr>
              <a:t>💻 Desenvolvedor / engenheiro de dados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Retângulo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82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" name="Retângulo 4"/>
          <p:cNvSpPr/>
          <p:nvPr/>
        </p:nvSpPr>
        <p:spPr>
          <a:xfrm>
            <a:off x="150000" y="80000"/>
            <a:ext cx="5000000" cy="38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2400" b="1" dirty="0">
                <a:solidFill>
                  <a:srgbClr val="F4821E"/>
                </a:solidFill>
                <a:latin typeface="Calibri"/>
              </a:rPr>
              <a:t>Cronograma do Projeto</a:t>
            </a:r>
          </a:p>
        </p:txBody>
      </p:sp>
      <p:sp>
        <p:nvSpPr>
          <p:cNvPr id="6" name="Retângulo 5"/>
          <p:cNvSpPr/>
          <p:nvPr/>
        </p:nvSpPr>
        <p:spPr>
          <a:xfrm>
            <a:off x="150000" y="44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1100" dirty="0">
                <a:solidFill>
                  <a:srgbClr val="8FA8BF"/>
                </a:solidFill>
                <a:latin typeface="Calibri"/>
              </a:rPr>
              <a:t>Urban Analytics System — Los Angeles</a:t>
            </a:r>
          </a:p>
        </p:txBody>
      </p:sp>
      <p:sp>
        <p:nvSpPr>
          <p:cNvPr id="7" name="Retângulo 6"/>
          <p:cNvSpPr/>
          <p:nvPr/>
        </p:nvSpPr>
        <p:spPr>
          <a:xfrm>
            <a:off x="6000000" y="120000"/>
            <a:ext cx="220000" cy="130000"/>
          </a:xfrm>
          <a:prstGeom prst="rect">
            <a:avLst/>
          </a:prstGeom>
          <a:solidFill>
            <a:srgbClr val="1A6B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etângulo 7"/>
          <p:cNvSpPr/>
          <p:nvPr/>
        </p:nvSpPr>
        <p:spPr>
          <a:xfrm>
            <a:off x="6240000" y="10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900" dirty="0">
                <a:solidFill>
                  <a:srgbClr val="8FA8BF"/>
                </a:solidFill>
                <a:latin typeface="Calibri"/>
              </a:rPr>
              <a:t>Concluído</a:t>
            </a:r>
          </a:p>
        </p:txBody>
      </p:sp>
      <p:sp>
        <p:nvSpPr>
          <p:cNvPr id="9" name="Retângulo 8"/>
          <p:cNvSpPr/>
          <p:nvPr/>
        </p:nvSpPr>
        <p:spPr>
          <a:xfrm>
            <a:off x="7000000" y="120000"/>
            <a:ext cx="220000" cy="130000"/>
          </a:xfrm>
          <a:prstGeom prst="rect">
            <a:avLst/>
          </a:prstGeom>
          <a:solidFill>
            <a:srgbClr val="F482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tângulo 9"/>
          <p:cNvSpPr/>
          <p:nvPr/>
        </p:nvSpPr>
        <p:spPr>
          <a:xfrm>
            <a:off x="7240000" y="100000"/>
            <a:ext cx="9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900" dirty="0">
                <a:solidFill>
                  <a:srgbClr val="8FA8BF"/>
                </a:solidFill>
                <a:latin typeface="Calibri"/>
              </a:rPr>
              <a:t>Em andamento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8050000" y="120000"/>
            <a:ext cx="220000" cy="130000"/>
          </a:xfrm>
          <a:prstGeom prst="rect">
            <a:avLst/>
          </a:prstGeom>
          <a:solidFill>
            <a:srgbClr val="2D4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Retângulo 11"/>
          <p:cNvSpPr/>
          <p:nvPr/>
        </p:nvSpPr>
        <p:spPr>
          <a:xfrm>
            <a:off x="8290000" y="100000"/>
            <a:ext cx="75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900" dirty="0">
                <a:solidFill>
                  <a:srgbClr val="8FA8BF"/>
                </a:solidFill>
                <a:latin typeface="Calibri"/>
              </a:rPr>
              <a:t>Pendente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2950000" y="720000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Retângulo 13"/>
          <p:cNvSpPr/>
          <p:nvPr/>
        </p:nvSpPr>
        <p:spPr>
          <a:xfrm>
            <a:off x="150000" y="720000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09/02 – Definição do tema</a:t>
            </a:r>
          </a:p>
        </p:txBody>
      </p:sp>
      <p:sp>
        <p:nvSpPr>
          <p:cNvPr id="15" name="Retângulo: Cantos Arredondados 14"/>
          <p:cNvSpPr/>
          <p:nvPr/>
        </p:nvSpPr>
        <p:spPr>
          <a:xfrm>
            <a:off x="2950000" y="784950"/>
            <a:ext cx="600166" cy="140725"/>
          </a:xfrm>
          <a:prstGeom prst="roundRect">
            <a:avLst>
              <a:gd name="adj" fmla="val 15000"/>
            </a:avLst>
          </a:prstGeom>
          <a:solidFill>
            <a:srgbClr val="1A6B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6" name="Retângulo 15"/>
          <p:cNvSpPr/>
          <p:nvPr/>
        </p:nvSpPr>
        <p:spPr>
          <a:xfrm>
            <a:off x="2950000" y="990625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Retângulo 16"/>
          <p:cNvSpPr/>
          <p:nvPr/>
        </p:nvSpPr>
        <p:spPr>
          <a:xfrm>
            <a:off x="150000" y="990625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23/02 – User stories + Canvas</a:t>
            </a:r>
          </a:p>
        </p:txBody>
      </p:sp>
      <p:sp>
        <p:nvSpPr>
          <p:cNvPr id="18" name="Retângulo: Cantos Arredondados 17"/>
          <p:cNvSpPr/>
          <p:nvPr/>
        </p:nvSpPr>
        <p:spPr>
          <a:xfrm>
            <a:off x="3596333" y="1055575"/>
            <a:ext cx="277000" cy="140725"/>
          </a:xfrm>
          <a:prstGeom prst="roundRect">
            <a:avLst>
              <a:gd name="adj" fmla="val 15000"/>
            </a:avLst>
          </a:prstGeom>
          <a:solidFill>
            <a:srgbClr val="1A6B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Retângulo 18"/>
          <p:cNvSpPr/>
          <p:nvPr/>
        </p:nvSpPr>
        <p:spPr>
          <a:xfrm>
            <a:off x="2950000" y="1261250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Retângulo 19"/>
          <p:cNvSpPr/>
          <p:nvPr/>
        </p:nvSpPr>
        <p:spPr>
          <a:xfrm>
            <a:off x="150000" y="1261250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02/03 – Plano de trabalho + Gantt</a:t>
            </a:r>
          </a:p>
        </p:txBody>
      </p:sp>
      <p:sp>
        <p:nvSpPr>
          <p:cNvPr id="21" name="Retângulo: Cantos Arredondados 20"/>
          <p:cNvSpPr/>
          <p:nvPr/>
        </p:nvSpPr>
        <p:spPr>
          <a:xfrm>
            <a:off x="3919500" y="1326200"/>
            <a:ext cx="277000" cy="140725"/>
          </a:xfrm>
          <a:prstGeom prst="roundRect">
            <a:avLst>
              <a:gd name="adj" fmla="val 15000"/>
            </a:avLst>
          </a:prstGeom>
          <a:solidFill>
            <a:srgbClr val="1A6B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Retângulo 21"/>
          <p:cNvSpPr/>
          <p:nvPr/>
        </p:nvSpPr>
        <p:spPr>
          <a:xfrm>
            <a:off x="2950000" y="1531875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Retângulo 22"/>
          <p:cNvSpPr/>
          <p:nvPr/>
        </p:nvSpPr>
        <p:spPr>
          <a:xfrm>
            <a:off x="150000" y="1531875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09/03 – Estado da arte</a:t>
            </a:r>
          </a:p>
        </p:txBody>
      </p:sp>
      <p:sp>
        <p:nvSpPr>
          <p:cNvPr id="24" name="Retângulo: Cantos Arredondados 23"/>
          <p:cNvSpPr/>
          <p:nvPr/>
        </p:nvSpPr>
        <p:spPr>
          <a:xfrm>
            <a:off x="4242666" y="1596825"/>
            <a:ext cx="276999" cy="140725"/>
          </a:xfrm>
          <a:prstGeom prst="roundRect">
            <a:avLst>
              <a:gd name="adj" fmla="val 15000"/>
            </a:avLst>
          </a:prstGeom>
          <a:solidFill>
            <a:srgbClr val="1A6B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Retângulo 24"/>
          <p:cNvSpPr/>
          <p:nvPr/>
        </p:nvSpPr>
        <p:spPr>
          <a:xfrm>
            <a:off x="2950000" y="1802500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Retângulo 25"/>
          <p:cNvSpPr/>
          <p:nvPr/>
        </p:nvSpPr>
        <p:spPr>
          <a:xfrm>
            <a:off x="150000" y="1802500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16/03 – Limpeza dados de crime</a:t>
            </a:r>
          </a:p>
        </p:txBody>
      </p:sp>
      <p:sp>
        <p:nvSpPr>
          <p:cNvPr id="27" name="Retângulo: Cantos Arredondados 26"/>
          <p:cNvSpPr/>
          <p:nvPr/>
        </p:nvSpPr>
        <p:spPr>
          <a:xfrm>
            <a:off x="4565833" y="1867450"/>
            <a:ext cx="277000" cy="140725"/>
          </a:xfrm>
          <a:prstGeom prst="roundRect">
            <a:avLst>
              <a:gd name="adj" fmla="val 15000"/>
            </a:avLst>
          </a:prstGeom>
          <a:solidFill>
            <a:srgbClr val="1A6B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Retângulo 27"/>
          <p:cNvSpPr/>
          <p:nvPr/>
        </p:nvSpPr>
        <p:spPr>
          <a:xfrm>
            <a:off x="2950000" y="2073125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Retângulo 28"/>
          <p:cNvSpPr/>
          <p:nvPr/>
        </p:nvSpPr>
        <p:spPr>
          <a:xfrm>
            <a:off x="150000" y="2073125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23/03 – Limpeza dados de clima</a:t>
            </a:r>
          </a:p>
        </p:txBody>
      </p:sp>
      <p:sp>
        <p:nvSpPr>
          <p:cNvPr id="30" name="Retângulo: Cantos Arredondados 29"/>
          <p:cNvSpPr/>
          <p:nvPr/>
        </p:nvSpPr>
        <p:spPr>
          <a:xfrm>
            <a:off x="4889000" y="2138075"/>
            <a:ext cx="277000" cy="140725"/>
          </a:xfrm>
          <a:prstGeom prst="roundRect">
            <a:avLst>
              <a:gd name="adj" fmla="val 15000"/>
            </a:avLst>
          </a:prstGeom>
          <a:solidFill>
            <a:srgbClr val="1A6B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Retângulo 30"/>
          <p:cNvSpPr/>
          <p:nvPr/>
        </p:nvSpPr>
        <p:spPr>
          <a:xfrm>
            <a:off x="2950000" y="2343750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Retângulo 31"/>
          <p:cNvSpPr/>
          <p:nvPr/>
        </p:nvSpPr>
        <p:spPr>
          <a:xfrm>
            <a:off x="150000" y="2343750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30/03 – Agregação temporal</a:t>
            </a:r>
          </a:p>
        </p:txBody>
      </p:sp>
      <p:sp>
        <p:nvSpPr>
          <p:cNvPr id="33" name="Retângulo: Cantos Arredondados 32"/>
          <p:cNvSpPr/>
          <p:nvPr/>
        </p:nvSpPr>
        <p:spPr>
          <a:xfrm>
            <a:off x="5212166" y="2408700"/>
            <a:ext cx="277000" cy="140725"/>
          </a:xfrm>
          <a:prstGeom prst="roundRect">
            <a:avLst>
              <a:gd name="adj" fmla="val 15000"/>
            </a:avLst>
          </a:prstGeom>
          <a:solidFill>
            <a:srgbClr val="F482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Retângulo 33"/>
          <p:cNvSpPr/>
          <p:nvPr/>
        </p:nvSpPr>
        <p:spPr>
          <a:xfrm>
            <a:off x="2950000" y="2614375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Retângulo 34"/>
          <p:cNvSpPr/>
          <p:nvPr/>
        </p:nvSpPr>
        <p:spPr>
          <a:xfrm>
            <a:off x="150000" y="2614375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06/04 – Entrega plano projeto</a:t>
            </a:r>
          </a:p>
        </p:txBody>
      </p:sp>
      <p:sp>
        <p:nvSpPr>
          <p:cNvPr id="36" name="Retângulo: Cantos Arredondados 35"/>
          <p:cNvSpPr/>
          <p:nvPr/>
        </p:nvSpPr>
        <p:spPr>
          <a:xfrm>
            <a:off x="5535333" y="2679325"/>
            <a:ext cx="277000" cy="140725"/>
          </a:xfrm>
          <a:prstGeom prst="roundRect">
            <a:avLst>
              <a:gd name="adj" fmla="val 15000"/>
            </a:avLst>
          </a:prstGeom>
          <a:solidFill>
            <a:srgbClr val="2D4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7" name="Retângulo 36"/>
          <p:cNvSpPr/>
          <p:nvPr/>
        </p:nvSpPr>
        <p:spPr>
          <a:xfrm>
            <a:off x="2950000" y="2885000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8" name="Retângulo 37"/>
          <p:cNvSpPr/>
          <p:nvPr/>
        </p:nvSpPr>
        <p:spPr>
          <a:xfrm>
            <a:off x="150000" y="2885000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13/04 – Integração datasets</a:t>
            </a:r>
          </a:p>
        </p:txBody>
      </p:sp>
      <p:sp>
        <p:nvSpPr>
          <p:cNvPr id="39" name="Retângulo: Cantos Arredondados 38"/>
          <p:cNvSpPr/>
          <p:nvPr/>
        </p:nvSpPr>
        <p:spPr>
          <a:xfrm>
            <a:off x="5858500" y="2949950"/>
            <a:ext cx="600166" cy="140725"/>
          </a:xfrm>
          <a:prstGeom prst="roundRect">
            <a:avLst>
              <a:gd name="adj" fmla="val 15000"/>
            </a:avLst>
          </a:prstGeom>
          <a:solidFill>
            <a:srgbClr val="2D4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Retângulo 39"/>
          <p:cNvSpPr/>
          <p:nvPr/>
        </p:nvSpPr>
        <p:spPr>
          <a:xfrm>
            <a:off x="2950000" y="3155625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Retângulo 40"/>
          <p:cNvSpPr/>
          <p:nvPr/>
        </p:nvSpPr>
        <p:spPr>
          <a:xfrm>
            <a:off x="150000" y="3155625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27/04 – Elaboração MVP</a:t>
            </a:r>
          </a:p>
        </p:txBody>
      </p:sp>
      <p:sp>
        <p:nvSpPr>
          <p:cNvPr id="42" name="Retângulo: Cantos Arredondados 41"/>
          <p:cNvSpPr/>
          <p:nvPr/>
        </p:nvSpPr>
        <p:spPr>
          <a:xfrm>
            <a:off x="6504833" y="3220575"/>
            <a:ext cx="276999" cy="140725"/>
          </a:xfrm>
          <a:prstGeom prst="roundRect">
            <a:avLst>
              <a:gd name="adj" fmla="val 15000"/>
            </a:avLst>
          </a:prstGeom>
          <a:solidFill>
            <a:srgbClr val="2D4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" name="Retângulo 42"/>
          <p:cNvSpPr/>
          <p:nvPr/>
        </p:nvSpPr>
        <p:spPr>
          <a:xfrm>
            <a:off x="2950000" y="3426250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Retângulo 43"/>
          <p:cNvSpPr/>
          <p:nvPr/>
        </p:nvSpPr>
        <p:spPr>
          <a:xfrm>
            <a:off x="150000" y="3426250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04/05 – Entrega MVP</a:t>
            </a:r>
          </a:p>
        </p:txBody>
      </p:sp>
      <p:sp>
        <p:nvSpPr>
          <p:cNvPr id="45" name="Retângulo: Cantos Arredondados 44"/>
          <p:cNvSpPr/>
          <p:nvPr/>
        </p:nvSpPr>
        <p:spPr>
          <a:xfrm>
            <a:off x="6828000" y="3491200"/>
            <a:ext cx="276999" cy="140725"/>
          </a:xfrm>
          <a:prstGeom prst="roundRect">
            <a:avLst>
              <a:gd name="adj" fmla="val 15000"/>
            </a:avLst>
          </a:prstGeom>
          <a:solidFill>
            <a:srgbClr val="2D4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Retângulo 45"/>
          <p:cNvSpPr/>
          <p:nvPr/>
        </p:nvSpPr>
        <p:spPr>
          <a:xfrm>
            <a:off x="2950000" y="3696875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Retângulo 46"/>
          <p:cNvSpPr/>
          <p:nvPr/>
        </p:nvSpPr>
        <p:spPr>
          <a:xfrm>
            <a:off x="150000" y="3696875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18/05 – Relatório do projeto</a:t>
            </a:r>
          </a:p>
        </p:txBody>
      </p:sp>
      <p:sp>
        <p:nvSpPr>
          <p:cNvPr id="48" name="Retângulo: Cantos Arredondados 47"/>
          <p:cNvSpPr/>
          <p:nvPr/>
        </p:nvSpPr>
        <p:spPr>
          <a:xfrm>
            <a:off x="7474333" y="3761825"/>
            <a:ext cx="276999" cy="140725"/>
          </a:xfrm>
          <a:prstGeom prst="roundRect">
            <a:avLst>
              <a:gd name="adj" fmla="val 15000"/>
            </a:avLst>
          </a:prstGeom>
          <a:solidFill>
            <a:srgbClr val="2D4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9" name="Retângulo 48"/>
          <p:cNvSpPr/>
          <p:nvPr/>
        </p:nvSpPr>
        <p:spPr>
          <a:xfrm>
            <a:off x="2950000" y="3967500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Retângulo 49"/>
          <p:cNvSpPr/>
          <p:nvPr/>
        </p:nvSpPr>
        <p:spPr>
          <a:xfrm>
            <a:off x="150000" y="3967500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25/05 – Ajustes finais</a:t>
            </a:r>
          </a:p>
        </p:txBody>
      </p:sp>
      <p:sp>
        <p:nvSpPr>
          <p:cNvPr id="51" name="Retângulo: Cantos Arredondados 50"/>
          <p:cNvSpPr/>
          <p:nvPr/>
        </p:nvSpPr>
        <p:spPr>
          <a:xfrm>
            <a:off x="7797500" y="4032450"/>
            <a:ext cx="277000" cy="140725"/>
          </a:xfrm>
          <a:prstGeom prst="roundRect">
            <a:avLst>
              <a:gd name="adj" fmla="val 15000"/>
            </a:avLst>
          </a:prstGeom>
          <a:solidFill>
            <a:srgbClr val="2D4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Retângulo 51"/>
          <p:cNvSpPr/>
          <p:nvPr/>
        </p:nvSpPr>
        <p:spPr>
          <a:xfrm>
            <a:off x="2950000" y="4238125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Retângulo 52"/>
          <p:cNvSpPr/>
          <p:nvPr/>
        </p:nvSpPr>
        <p:spPr>
          <a:xfrm>
            <a:off x="150000" y="4238125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01/06 – Entrega de Projetos</a:t>
            </a:r>
          </a:p>
        </p:txBody>
      </p:sp>
      <p:sp>
        <p:nvSpPr>
          <p:cNvPr id="54" name="Retângulo: Cantos Arredondados 53"/>
          <p:cNvSpPr/>
          <p:nvPr/>
        </p:nvSpPr>
        <p:spPr>
          <a:xfrm>
            <a:off x="8120666" y="4303075"/>
            <a:ext cx="276999" cy="140725"/>
          </a:xfrm>
          <a:prstGeom prst="roundRect">
            <a:avLst>
              <a:gd name="adj" fmla="val 15000"/>
            </a:avLst>
          </a:prstGeom>
          <a:solidFill>
            <a:srgbClr val="2D4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Retângulo 54"/>
          <p:cNvSpPr/>
          <p:nvPr/>
        </p:nvSpPr>
        <p:spPr>
          <a:xfrm>
            <a:off x="2950000" y="4508750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Retângulo 55"/>
          <p:cNvSpPr/>
          <p:nvPr/>
        </p:nvSpPr>
        <p:spPr>
          <a:xfrm>
            <a:off x="150000" y="4508750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08/06 – Apresentação substitutiva</a:t>
            </a:r>
          </a:p>
        </p:txBody>
      </p:sp>
      <p:sp>
        <p:nvSpPr>
          <p:cNvPr id="57" name="Retângulo: Cantos Arredondados 56"/>
          <p:cNvSpPr/>
          <p:nvPr/>
        </p:nvSpPr>
        <p:spPr>
          <a:xfrm>
            <a:off x="8443833" y="4573700"/>
            <a:ext cx="277000" cy="140725"/>
          </a:xfrm>
          <a:prstGeom prst="roundRect">
            <a:avLst>
              <a:gd name="adj" fmla="val 15000"/>
            </a:avLst>
          </a:prstGeom>
          <a:solidFill>
            <a:srgbClr val="2D4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8" name="Retângulo 57"/>
          <p:cNvSpPr/>
          <p:nvPr/>
        </p:nvSpPr>
        <p:spPr>
          <a:xfrm>
            <a:off x="2950000" y="4779375"/>
            <a:ext cx="6094000" cy="3000"/>
          </a:xfrm>
          <a:prstGeom prst="rect">
            <a:avLst/>
          </a:prstGeom>
          <a:solidFill>
            <a:srgbClr val="1E344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Retângulo 58"/>
          <p:cNvSpPr/>
          <p:nvPr/>
        </p:nvSpPr>
        <p:spPr>
          <a:xfrm>
            <a:off x="150000" y="4779375"/>
            <a:ext cx="2750000" cy="270625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80" dirty="0">
                <a:solidFill>
                  <a:srgbClr val="A8C4D8"/>
                </a:solidFill>
                <a:latin typeface="Calibri"/>
              </a:rPr>
              <a:t>15/06 – Apresentação final</a:t>
            </a:r>
          </a:p>
        </p:txBody>
      </p:sp>
      <p:sp>
        <p:nvSpPr>
          <p:cNvPr id="60" name="Retângulo: Cantos Arredondados 59"/>
          <p:cNvSpPr/>
          <p:nvPr/>
        </p:nvSpPr>
        <p:spPr>
          <a:xfrm>
            <a:off x="8767000" y="4844325"/>
            <a:ext cx="276999" cy="140725"/>
          </a:xfrm>
          <a:prstGeom prst="roundRect">
            <a:avLst>
              <a:gd name="adj" fmla="val 15000"/>
            </a:avLst>
          </a:prstGeom>
          <a:solidFill>
            <a:srgbClr val="2D4A5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Retângulo 60"/>
          <p:cNvSpPr/>
          <p:nvPr/>
        </p:nvSpPr>
        <p:spPr>
          <a:xfrm>
            <a:off x="6133010" y="757214"/>
            <a:ext cx="18000" cy="4360000"/>
          </a:xfrm>
          <a:prstGeom prst="rect">
            <a:avLst/>
          </a:prstGeom>
          <a:solidFill>
            <a:srgbClr val="F4821E"/>
          </a:solidFill>
          <a:ln>
            <a:noFill/>
          </a:ln>
        </p:spPr>
        <p:txBody>
          <a:bodyPr/>
          <a:lstStyle/>
          <a:p>
            <a:endParaRPr dirty="0"/>
          </a:p>
        </p:txBody>
      </p:sp>
      <p:sp>
        <p:nvSpPr>
          <p:cNvPr id="62" name="Retângulo 61"/>
          <p:cNvSpPr/>
          <p:nvPr/>
        </p:nvSpPr>
        <p:spPr>
          <a:xfrm>
            <a:off x="2950000" y="640000"/>
            <a:ext cx="400000" cy="7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00" dirty="0">
                <a:solidFill>
                  <a:srgbClr val="4A7FA0"/>
                </a:solidFill>
                <a:latin typeface="Calibri"/>
              </a:rPr>
              <a:t>Fev</a:t>
            </a:r>
          </a:p>
        </p:txBody>
      </p:sp>
      <p:sp>
        <p:nvSpPr>
          <p:cNvPr id="63" name="Retângulo 62"/>
          <p:cNvSpPr/>
          <p:nvPr/>
        </p:nvSpPr>
        <p:spPr>
          <a:xfrm>
            <a:off x="3873333" y="640000"/>
            <a:ext cx="400000" cy="7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00" dirty="0">
                <a:solidFill>
                  <a:srgbClr val="4A7FA0"/>
                </a:solidFill>
                <a:latin typeface="Calibri"/>
              </a:rPr>
              <a:t>Mar</a:t>
            </a:r>
          </a:p>
        </p:txBody>
      </p:sp>
      <p:sp>
        <p:nvSpPr>
          <p:cNvPr id="64" name="Retângulo 63"/>
          <p:cNvSpPr/>
          <p:nvPr/>
        </p:nvSpPr>
        <p:spPr>
          <a:xfrm>
            <a:off x="5304500" y="640000"/>
            <a:ext cx="400000" cy="7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00" dirty="0">
                <a:solidFill>
                  <a:srgbClr val="4A7FA0"/>
                </a:solidFill>
                <a:latin typeface="Calibri"/>
              </a:rPr>
              <a:t>Abr</a:t>
            </a:r>
          </a:p>
        </p:txBody>
      </p:sp>
      <p:sp>
        <p:nvSpPr>
          <p:cNvPr id="65" name="Retângulo 64"/>
          <p:cNvSpPr/>
          <p:nvPr/>
        </p:nvSpPr>
        <p:spPr>
          <a:xfrm>
            <a:off x="6689500" y="640000"/>
            <a:ext cx="400000" cy="7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00" dirty="0">
                <a:solidFill>
                  <a:srgbClr val="4A7FA0"/>
                </a:solidFill>
                <a:latin typeface="Calibri"/>
              </a:rPr>
              <a:t>Mai</a:t>
            </a:r>
          </a:p>
        </p:txBody>
      </p:sp>
      <p:sp>
        <p:nvSpPr>
          <p:cNvPr id="66" name="Retângulo 65"/>
          <p:cNvSpPr/>
          <p:nvPr/>
        </p:nvSpPr>
        <p:spPr>
          <a:xfrm>
            <a:off x="8120666" y="640000"/>
            <a:ext cx="400000" cy="70000"/>
          </a:xfrm>
          <a:prstGeom prst="rect">
            <a:avLst/>
          </a:prstGeom>
          <a:noFill/>
          <a:ln>
            <a:noFill/>
          </a:ln>
        </p:spPr>
        <p:txBody>
          <a:bodyPr wrap="square" lIns="30000" tIns="0" rIns="0" bIns="0" rtlCol="0" anchor="ctr"/>
          <a:lstStyle/>
          <a:p>
            <a:pPr marL="0" indent="0" algn="l">
              <a:buNone/>
            </a:pPr>
            <a:r>
              <a:rPr lang="pt-BR" sz="800" dirty="0">
                <a:solidFill>
                  <a:srgbClr val="4A7FA0"/>
                </a:solidFill>
                <a:latin typeface="Calibri"/>
              </a:rPr>
              <a:t>Jun</a:t>
            </a:r>
          </a:p>
        </p:txBody>
      </p:sp>
      <p:sp>
        <p:nvSpPr>
          <p:cNvPr id="67" name="Retângulo: Cantos Arredondados 66">
            <a:extLst>
              <a:ext uri="{FF2B5EF4-FFF2-40B4-BE49-F238E27FC236}">
                <a16:creationId xmlns:a16="http://schemas.microsoft.com/office/drawing/2014/main" id="{725F2191-5599-2E69-E879-5B911A3D95A4}"/>
              </a:ext>
            </a:extLst>
          </p:cNvPr>
          <p:cNvSpPr/>
          <p:nvPr/>
        </p:nvSpPr>
        <p:spPr>
          <a:xfrm>
            <a:off x="5857254" y="2947342"/>
            <a:ext cx="601411" cy="143333"/>
          </a:xfrm>
          <a:prstGeom prst="roundRect">
            <a:avLst>
              <a:gd name="adj" fmla="val 15000"/>
            </a:avLst>
          </a:prstGeom>
          <a:solidFill>
            <a:srgbClr val="F4821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95AA4EF7-71AF-8858-7DF7-D534BB93BEC6}"/>
              </a:ext>
            </a:extLst>
          </p:cNvPr>
          <p:cNvSpPr/>
          <p:nvPr/>
        </p:nvSpPr>
        <p:spPr>
          <a:xfrm>
            <a:off x="5212166" y="2408699"/>
            <a:ext cx="283751" cy="140726"/>
          </a:xfrm>
          <a:prstGeom prst="roundRect">
            <a:avLst>
              <a:gd name="adj" fmla="val 15000"/>
            </a:avLst>
          </a:prstGeom>
          <a:solidFill>
            <a:srgbClr val="1A6B9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CEFD0CFB-D779-8746-6AA7-4B12AA278BA9}"/>
              </a:ext>
            </a:extLst>
          </p:cNvPr>
          <p:cNvSpPr/>
          <p:nvPr/>
        </p:nvSpPr>
        <p:spPr>
          <a:xfrm>
            <a:off x="5531101" y="2679324"/>
            <a:ext cx="283751" cy="140726"/>
          </a:xfrm>
          <a:prstGeom prst="roundRect">
            <a:avLst>
              <a:gd name="adj" fmla="val 15000"/>
            </a:avLst>
          </a:prstGeom>
          <a:solidFill>
            <a:srgbClr val="1A6B9A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595360" y="4754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51209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Esperados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95966"/>
            <a:ext cx="1097280" cy="36576"/>
          </a:xfrm>
          <a:prstGeom prst="rect">
            <a:avLst/>
          </a:prstGeom>
          <a:solidFill>
            <a:srgbClr val="1E88A8"/>
          </a:solidFill>
          <a:ln w="12700">
            <a:solidFill>
              <a:srgbClr val="1E88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VAI ENTREGAR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143000"/>
            <a:ext cx="2697480" cy="164592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307592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307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Integrado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17373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urban_dataset_2025.csv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· crime · tráfego · clima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Granularidade horária, outer join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37560" y="1143000"/>
            <a:ext cx="2697480" cy="164592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30759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307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Correlações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474720" y="17373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Chuva vs congestionamento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vs tráfego por horário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 hora × dia da semana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143000"/>
            <a:ext cx="2697480" cy="164592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30759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307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Risco Urbano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55080" y="17373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composto por área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níveis: baixo · moderado · elevado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em evidências históricas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2697480" cy="164592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136392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05840" y="3136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Preditivos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594360" y="3566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 / Prophet para tráfego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para risco de crime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para próximas 24h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337560" y="2971800"/>
            <a:ext cx="2697480" cy="164592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136392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886200" y="3136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Interativo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3474720" y="3566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camadas: crime · tráfego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cima · alertas de risco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horário e dia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217920" y="2971800"/>
            <a:ext cx="2697480" cy="1645920"/>
          </a:xfrm>
          <a:prstGeom prst="rect">
            <a:avLst/>
          </a:prstGeom>
          <a:solidFill>
            <a:srgbClr val="162232"/>
          </a:solidFill>
          <a:ln w="6350">
            <a:solidFill>
              <a:srgbClr val="1E88A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136392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766560" y="3136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Flutter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6355080" y="356616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 iOS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Mapa · Predições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Recomendações em linguagem simples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Obrigado.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Analytics System — Los Angeles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286000" cy="36576"/>
          </a:xfrm>
          <a:prstGeom prst="rect">
            <a:avLst/>
          </a:prstGeom>
          <a:solidFill>
            <a:srgbClr val="F4821E"/>
          </a:solidFill>
          <a:ln w="12700">
            <a:solidFill>
              <a:srgbClr val="F4821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github.com/ikkoh18/urban-analytics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 data.lacity.org  ·  pems.dot.ca.gov  ·  meteostat.net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8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Ikkoh  ·  Engenharia da Computação  ·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1095</TotalTime>
  <Words>2207</Words>
  <Application>Microsoft Office PowerPoint</Application>
  <PresentationFormat>Apresentação na tela (16:9)</PresentationFormat>
  <Paragraphs>174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Analytics System – Los Angeles</dc:title>
  <dc:subject>PptxGenJS Presentation</dc:subject>
  <dc:creator>Roberto Ikkoh</dc:creator>
  <cp:lastModifiedBy>Roberto Takeda</cp:lastModifiedBy>
  <cp:revision>6</cp:revision>
  <dcterms:created xsi:type="dcterms:W3CDTF">2026-03-31T18:41:19Z</dcterms:created>
  <dcterms:modified xsi:type="dcterms:W3CDTF">2026-04-06T12:39:08Z</dcterms:modified>
</cp:coreProperties>
</file>